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OWASP Top 10 기반 3-Tier 웹서비스 보안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75569"/>
                </a:solidFill>
              </a:rPr>
              <a:t>공공 의료 민원 포털 프로젝트 발표 · 2026-02-11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발표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3-Tier 구조(Web/WAS/DB)에서 취약점이 어떻게 발생하는지 프로젝트 기반으로 설명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OWASP Top 10:2025 전 항목(A01~A10) 커버리지와 재현 근거 제시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취약점 나열이 아닌 개선 우선순위와 운영 대책까지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docs/IMPLEMENTATION_MASTER_PLAN.md, docs/OWASP_SCENARIOS.md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프로젝트 아키텍처 (3-Tier)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Web Tier: Nginx Reverse Proxy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WAS Tier: Flask + SQLAlchemy (인증/민원/게시판/마이데이터 로직)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DB Tier: MariaDB (업무 데이터 + 감사로그 + 마이데이터 스냅샷)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요청 흐름: Client -&gt; Nginx -&gt; Flask -&gt; MariaDB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docker-compose.yml, web/nginx.conf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서비스 범위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사용자 기능: 회원가입/로그인, 게시판, 민원, 공지, 마이페이지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관리자 기능: 사용자·게시물·공지·민원 관리, 로그 모니터링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의료 마이데이터: 제공기관 Mock API + DB 시드 데이터 기반 조회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교육용 취약점 실습: /vulnlab, /security/scenarios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README.md, docs/FEATURE_MATRIX.md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OWASP Top 10:2025 커버리지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2394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프로젝트 내 점검 포인트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Broken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관리자/일반 사용자 경계, IDOR 차단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Security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기본 설정/오류 노출 점검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Software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의존성 버전/패키지 검증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Cryptographic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민감정보 전송/저장 보호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입력 처리와 쿼리 안전성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Insecure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업무 규칙/Rate limiting/상태 전이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Authentication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로그인/세션 정책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Integrity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데이터/코드 무결성</a:t>
                      </a:r>
                    </a:p>
                  </a:txBody>
                  <a:tcPr/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Logging &amp; Alerting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감사로그/탐지/경보</a:t>
                      </a:r>
                    </a:p>
                  </a:txBody>
                  <a:tcPr/>
                </a:tc>
              </a:tr>
              <a:tr h="423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Exceptional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Fail-Open, 예외 처리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docs/OWASP_SCENARIOS.md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A01~A05 핵심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A01: 접근권한 누락 시 타인 데이터 노출 가능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A02: 기본 설정/디버그 노출은 내부 구조 유출로 직결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A03: 취약 패키지/공급망 관리 실패는 대규모 사고로 확장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A04: 암호화/전송 보호 미흡 시 의료·개인정보 직접 노출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A05: 입력값 처리 취약 시 데이터 조회/변조 리스크 발생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docs/OWASP_SCENARIOS.md, docs/API_SPEC.md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A06~A10 핵심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A06: 설계 단계의 보안 규칙 누락은 구현 품질과 무관하게 취약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A07: 인증 정책 부재(잠금/MFA/세션관리)는 계정 탈취 리스크 증가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A08: 신뢰경계 검증 실패는 코드/데이터 위변조로 연결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A09: 로그가 없거나 품질이 낮으면 사고 탐지·대응이 불가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A10: 예외 처리 실패(Fail-Open)는 보호 로직 전체 우회로 이어짐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docs/OWASP_SCENARIOS.md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상세 사례 1: A01 접근제어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증상: 사용자 권한 분리 실패 시 타인 리소스 접근 가능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영향: 개인정보·민원 데이터 무단 열람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확인 포인트: /admin, /complaints/{id} 접근 통제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개선: 리소스 소유권 검증 + 역할 기반 접근 제어 일관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was/app/routes.py, docs/TEST_CASES.md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상세 사례 2: A05 인젝션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증상: 사용자 입력이 검증 없이 질의/명령 경계로 유입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영향: 데이터 조회 우회, 정보 노출, 무결성 훼손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확인 포인트: 검색/필터 입력 경로와 쿼리 실행 방식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개선: 파라미터 바인딩, 입력 검증, 위험 패턴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docs/OWASP_SCENARIOS.md, docs/API_SPEC.md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상세 사례 3: A07 인증실패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증상: 로그인 정책/세션 정책 부재 또는 취약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영향: 계정 탈취, 권한 오남용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확인 포인트: 실패 로그 누적, 잠금 정책, 세션 식별자 품질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개선: 실패횟수 제한, 계정 잠금, MFA, 강한 세션 토큰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was/app/routes.py, docs/TEST_CASES.md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상세 사례 4: A09 로깅·알림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증상: 보안 이벤트가 누락되거나 알림 체계가 없음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영향: 침해 탐지 지연, 사고 대응 실패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확인 포인트: /admin/logs 이벤트 필터와 감사 로그 품질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개선: 표준 이벤트 스키마, 민감정보 마스킹, 임계치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was/app/templates/admin/logs.html, was/app/routes.py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상세 사례 5: A10 예외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증상: 예외 상황에서 접근통제가 풀리거나 내부 정보가 노출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영향: 보호 우회, 공격 표면 확대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확인 포인트: Fail-Open/Fail-Closed 동작, 4xx/5xx 처리 일관성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개선: Fail-Secure 기본값, 공통 에러 핸들러, 내부 정보 비노출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docs/OWASP_SCENARIOS.md, was/app/templates/errors/500.html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마이데이터 연동 관점 보안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현재 구조: 제공기관 Mock API + consent/token 기반 조회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검증 포인트: client 인증, token 만료/폐기, 사용자-데이터 바인딩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로그 포인트: mydata_fetch, mydata_report_download, web_request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개선: 토큰 scope 분리, 재시도/이상패턴 탐지, 감사추적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was/app/routes.py, was/app/provider_service.py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개선 로드맵 (우선순위)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1658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구간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핵심 액션</a:t>
                      </a:r>
                    </a:p>
                  </a:txBody>
                  <a:tcPr/>
                </a:tc>
              </a:tr>
              <a:tr h="11658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단기 (1~2주)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고위험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접근제어 복구, 인증 정책 강화, 민감정보 마스킹</a:t>
                      </a:r>
                    </a:p>
                  </a:txBody>
                  <a:tcPr/>
                </a:tc>
              </a:tr>
              <a:tr h="11658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중기 (3~4주)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운영탐지 강화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로그 표준화, 경보 룰, 취약점 스캔 자동화</a:t>
                      </a:r>
                    </a:p>
                  </a:txBody>
                  <a:tcPr/>
                </a:tc>
              </a:tr>
              <a:tr h="11658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장기 (5주+)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보안 내재화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보안 테스트 CI 편입, 설계 리뷰 정례화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docs/SERVICE_COMPLETION_PLAN.md, docs/TEST_RESULTS.md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평가/시연 체크리스트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A01~A10 각 항목에 대해 재현 근거 1개 이상 확보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관리자 로그에서 관련 이벤트 추적 가능 여부 확인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개선안 적용 전/후 비교(리스크 감소) 명확히 제시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문서-코드-시연 흐름 불일치 0건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docs/TEST_CASES.md, docs/FEATURE_MATRIX.md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F172A"/>
                </a:solidFill>
              </a:rP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293B"/>
                </a:solidFill>
              </a:rPr>
              <a:t>이 프로젝트는 3-Tier 구조에서 보안 실패 지점을 체계적으로 학습하기에 적합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OWASP Top 10 전 항목을 실제 기능과 연결해 분석 가능한 상태</a:t>
            </a:r>
          </a:p>
          <a:p>
            <a:pPr/>
            <a:r>
              <a:rPr sz="1800" b="0">
                <a:solidFill>
                  <a:srgbClr val="1E293B"/>
                </a:solidFill>
              </a:rPr>
              <a:t>발표 핵심은 '취약점 개수' + '근거 기반 분석' + '실행 가능한 개선안'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근거: docs/OWASP_SCENARIOS.md, docs/PPT_PRODUCTION_PLAN.md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